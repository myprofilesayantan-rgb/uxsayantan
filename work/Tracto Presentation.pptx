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embeddedFontLst>
    <p:embeddedFont>
      <p:font typeface="Roboto Serif"/>
      <p:bold r:id="rId21"/>
      <p:boldItalic r:id="rId22"/>
    </p:embeddedFon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NZWc2JXss2cX5PwskmuaoWd5n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Serif-boldItalic.fntdata"/><Relationship Id="rId21" Type="http://schemas.openxmlformats.org/officeDocument/2006/relationships/font" Target="fonts/RobotoSerif-bold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</a:t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    </a:t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zzzzz</a:t>
            </a:r>
            <a:endParaRPr/>
          </a:p>
        </p:txBody>
      </p:sp>
      <p:sp>
        <p:nvSpPr>
          <p:cNvPr id="325" name="Google Shape;32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22" Type="http://schemas.openxmlformats.org/officeDocument/2006/relationships/image" Target="../media/image21.png"/><Relationship Id="rId21" Type="http://schemas.openxmlformats.org/officeDocument/2006/relationships/image" Target="../media/image22.png"/><Relationship Id="rId24" Type="http://schemas.openxmlformats.org/officeDocument/2006/relationships/image" Target="../media/image27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.png"/><Relationship Id="rId26" Type="http://schemas.openxmlformats.org/officeDocument/2006/relationships/image" Target="../media/image33.png"/><Relationship Id="rId25" Type="http://schemas.openxmlformats.org/officeDocument/2006/relationships/image" Target="../media/image36.png"/><Relationship Id="rId28" Type="http://schemas.openxmlformats.org/officeDocument/2006/relationships/image" Target="../media/image26.png"/><Relationship Id="rId27" Type="http://schemas.openxmlformats.org/officeDocument/2006/relationships/image" Target="../media/image23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29" Type="http://schemas.openxmlformats.org/officeDocument/2006/relationships/image" Target="../media/image32.png"/><Relationship Id="rId7" Type="http://schemas.openxmlformats.org/officeDocument/2006/relationships/image" Target="../media/image17.png"/><Relationship Id="rId8" Type="http://schemas.openxmlformats.org/officeDocument/2006/relationships/image" Target="../media/image4.png"/><Relationship Id="rId30" Type="http://schemas.openxmlformats.org/officeDocument/2006/relationships/image" Target="../media/image25.png"/><Relationship Id="rId11" Type="http://schemas.openxmlformats.org/officeDocument/2006/relationships/image" Target="../media/image12.png"/><Relationship Id="rId10" Type="http://schemas.openxmlformats.org/officeDocument/2006/relationships/image" Target="../media/image7.png"/><Relationship Id="rId13" Type="http://schemas.openxmlformats.org/officeDocument/2006/relationships/image" Target="../media/image20.png"/><Relationship Id="rId12" Type="http://schemas.openxmlformats.org/officeDocument/2006/relationships/image" Target="../media/image14.png"/><Relationship Id="rId15" Type="http://schemas.openxmlformats.org/officeDocument/2006/relationships/image" Target="../media/image10.png"/><Relationship Id="rId14" Type="http://schemas.openxmlformats.org/officeDocument/2006/relationships/image" Target="../media/image13.png"/><Relationship Id="rId17" Type="http://schemas.openxmlformats.org/officeDocument/2006/relationships/image" Target="../media/image8.png"/><Relationship Id="rId16" Type="http://schemas.openxmlformats.org/officeDocument/2006/relationships/image" Target="../media/image5.png"/><Relationship Id="rId19" Type="http://schemas.openxmlformats.org/officeDocument/2006/relationships/image" Target="../media/image2.png"/><Relationship Id="rId18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3.png"/><Relationship Id="rId4" Type="http://schemas.openxmlformats.org/officeDocument/2006/relationships/image" Target="../media/image23.png"/><Relationship Id="rId5" Type="http://schemas.openxmlformats.org/officeDocument/2006/relationships/image" Target="../media/image37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3.png"/><Relationship Id="rId4" Type="http://schemas.openxmlformats.org/officeDocument/2006/relationships/image" Target="../media/image23.png"/><Relationship Id="rId5" Type="http://schemas.openxmlformats.org/officeDocument/2006/relationships/image" Target="../media/image37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38.png"/><Relationship Id="rId9" Type="http://schemas.openxmlformats.org/officeDocument/2006/relationships/image" Target="../media/image37.png"/><Relationship Id="rId5" Type="http://schemas.openxmlformats.org/officeDocument/2006/relationships/image" Target="../media/image47.png"/><Relationship Id="rId6" Type="http://schemas.openxmlformats.org/officeDocument/2006/relationships/image" Target="../media/image50.png"/><Relationship Id="rId7" Type="http://schemas.openxmlformats.org/officeDocument/2006/relationships/image" Target="../media/image55.png"/><Relationship Id="rId8" Type="http://schemas.openxmlformats.org/officeDocument/2006/relationships/image" Target="../media/image23.png"/><Relationship Id="rId11" Type="http://schemas.openxmlformats.org/officeDocument/2006/relationships/image" Target="../media/image25.png"/><Relationship Id="rId10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6.png"/><Relationship Id="rId4" Type="http://schemas.openxmlformats.org/officeDocument/2006/relationships/image" Target="../media/image23.png"/><Relationship Id="rId5" Type="http://schemas.openxmlformats.org/officeDocument/2006/relationships/image" Target="../media/image37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8.png"/><Relationship Id="rId4" Type="http://schemas.openxmlformats.org/officeDocument/2006/relationships/image" Target="../media/image77.png"/><Relationship Id="rId5" Type="http://schemas.openxmlformats.org/officeDocument/2006/relationships/image" Target="../media/image23.png"/><Relationship Id="rId6" Type="http://schemas.openxmlformats.org/officeDocument/2006/relationships/image" Target="../media/image37.png"/><Relationship Id="rId7" Type="http://schemas.openxmlformats.org/officeDocument/2006/relationships/image" Target="../media/image32.png"/><Relationship Id="rId8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8.png"/><Relationship Id="rId4" Type="http://schemas.openxmlformats.org/officeDocument/2006/relationships/image" Target="../media/image77.png"/><Relationship Id="rId5" Type="http://schemas.openxmlformats.org/officeDocument/2006/relationships/image" Target="../media/image23.png"/><Relationship Id="rId6" Type="http://schemas.openxmlformats.org/officeDocument/2006/relationships/image" Target="../media/image37.png"/><Relationship Id="rId7" Type="http://schemas.openxmlformats.org/officeDocument/2006/relationships/image" Target="../media/image32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1.png"/><Relationship Id="rId4" Type="http://schemas.openxmlformats.org/officeDocument/2006/relationships/image" Target="../media/image76.png"/><Relationship Id="rId5" Type="http://schemas.openxmlformats.org/officeDocument/2006/relationships/image" Target="../media/image23.png"/><Relationship Id="rId6" Type="http://schemas.openxmlformats.org/officeDocument/2006/relationships/image" Target="../media/image37.png"/><Relationship Id="rId7" Type="http://schemas.openxmlformats.org/officeDocument/2006/relationships/image" Target="../media/image32.png"/><Relationship Id="rId8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1.png"/><Relationship Id="rId4" Type="http://schemas.openxmlformats.org/officeDocument/2006/relationships/image" Target="../media/image83.png"/><Relationship Id="rId9" Type="http://schemas.openxmlformats.org/officeDocument/2006/relationships/image" Target="../media/image91.png"/><Relationship Id="rId5" Type="http://schemas.openxmlformats.org/officeDocument/2006/relationships/image" Target="../media/image82.png"/><Relationship Id="rId6" Type="http://schemas.openxmlformats.org/officeDocument/2006/relationships/image" Target="../media/image79.png"/><Relationship Id="rId7" Type="http://schemas.openxmlformats.org/officeDocument/2006/relationships/image" Target="../media/image88.png"/><Relationship Id="rId8" Type="http://schemas.openxmlformats.org/officeDocument/2006/relationships/image" Target="../media/image85.png"/><Relationship Id="rId11" Type="http://schemas.openxmlformats.org/officeDocument/2006/relationships/image" Target="../media/image90.png"/><Relationship Id="rId10" Type="http://schemas.openxmlformats.org/officeDocument/2006/relationships/image" Target="../media/image89.png"/><Relationship Id="rId13" Type="http://schemas.openxmlformats.org/officeDocument/2006/relationships/image" Target="../media/image142.png"/><Relationship Id="rId12" Type="http://schemas.openxmlformats.org/officeDocument/2006/relationships/image" Target="../media/image94.png"/><Relationship Id="rId15" Type="http://schemas.openxmlformats.org/officeDocument/2006/relationships/image" Target="../media/image37.png"/><Relationship Id="rId14" Type="http://schemas.openxmlformats.org/officeDocument/2006/relationships/image" Target="../media/image23.png"/><Relationship Id="rId17" Type="http://schemas.openxmlformats.org/officeDocument/2006/relationships/image" Target="../media/image25.png"/><Relationship Id="rId16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5.png"/><Relationship Id="rId4" Type="http://schemas.openxmlformats.org/officeDocument/2006/relationships/image" Target="../media/image92.png"/><Relationship Id="rId9" Type="http://schemas.openxmlformats.org/officeDocument/2006/relationships/image" Target="../media/image105.png"/><Relationship Id="rId5" Type="http://schemas.openxmlformats.org/officeDocument/2006/relationships/image" Target="../media/image97.png"/><Relationship Id="rId6" Type="http://schemas.openxmlformats.org/officeDocument/2006/relationships/image" Target="../media/image104.png"/><Relationship Id="rId7" Type="http://schemas.openxmlformats.org/officeDocument/2006/relationships/image" Target="../media/image106.png"/><Relationship Id="rId8" Type="http://schemas.openxmlformats.org/officeDocument/2006/relationships/image" Target="../media/image89.png"/><Relationship Id="rId11" Type="http://schemas.openxmlformats.org/officeDocument/2006/relationships/image" Target="../media/image100.png"/><Relationship Id="rId10" Type="http://schemas.openxmlformats.org/officeDocument/2006/relationships/image" Target="../media/image96.png"/><Relationship Id="rId13" Type="http://schemas.openxmlformats.org/officeDocument/2006/relationships/image" Target="../media/image107.png"/><Relationship Id="rId12" Type="http://schemas.openxmlformats.org/officeDocument/2006/relationships/image" Target="../media/image99.png"/><Relationship Id="rId15" Type="http://schemas.openxmlformats.org/officeDocument/2006/relationships/image" Target="../media/image37.png"/><Relationship Id="rId14" Type="http://schemas.openxmlformats.org/officeDocument/2006/relationships/image" Target="../media/image23.png"/><Relationship Id="rId17" Type="http://schemas.openxmlformats.org/officeDocument/2006/relationships/image" Target="../media/image25.png"/><Relationship Id="rId16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9" Type="http://schemas.openxmlformats.org/officeDocument/2006/relationships/image" Target="../media/image23.png"/><Relationship Id="rId5" Type="http://schemas.openxmlformats.org/officeDocument/2006/relationships/image" Target="../media/image111.png"/><Relationship Id="rId6" Type="http://schemas.openxmlformats.org/officeDocument/2006/relationships/image" Target="../media/image118.png"/><Relationship Id="rId7" Type="http://schemas.openxmlformats.org/officeDocument/2006/relationships/image" Target="../media/image90.png"/><Relationship Id="rId8" Type="http://schemas.openxmlformats.org/officeDocument/2006/relationships/image" Target="../media/image128.png"/><Relationship Id="rId11" Type="http://schemas.openxmlformats.org/officeDocument/2006/relationships/image" Target="../media/image32.png"/><Relationship Id="rId10" Type="http://schemas.openxmlformats.org/officeDocument/2006/relationships/image" Target="../media/image37.png"/><Relationship Id="rId12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5.png"/><Relationship Id="rId4" Type="http://schemas.openxmlformats.org/officeDocument/2006/relationships/image" Target="../media/image141.png"/><Relationship Id="rId9" Type="http://schemas.openxmlformats.org/officeDocument/2006/relationships/image" Target="../media/image23.png"/><Relationship Id="rId5" Type="http://schemas.openxmlformats.org/officeDocument/2006/relationships/image" Target="../media/image123.png"/><Relationship Id="rId6" Type="http://schemas.openxmlformats.org/officeDocument/2006/relationships/image" Target="../media/image111.png"/><Relationship Id="rId7" Type="http://schemas.openxmlformats.org/officeDocument/2006/relationships/image" Target="../media/image125.png"/><Relationship Id="rId8" Type="http://schemas.openxmlformats.org/officeDocument/2006/relationships/image" Target="../media/image139.png"/><Relationship Id="rId11" Type="http://schemas.openxmlformats.org/officeDocument/2006/relationships/image" Target="../media/image32.png"/><Relationship Id="rId10" Type="http://schemas.openxmlformats.org/officeDocument/2006/relationships/image" Target="../media/image37.png"/><Relationship Id="rId12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3.png"/><Relationship Id="rId4" Type="http://schemas.openxmlformats.org/officeDocument/2006/relationships/image" Target="../media/image111.png"/><Relationship Id="rId9" Type="http://schemas.openxmlformats.org/officeDocument/2006/relationships/image" Target="../media/image32.png"/><Relationship Id="rId5" Type="http://schemas.openxmlformats.org/officeDocument/2006/relationships/image" Target="../media/image132.png"/><Relationship Id="rId6" Type="http://schemas.openxmlformats.org/officeDocument/2006/relationships/image" Target="../media/image130.png"/><Relationship Id="rId7" Type="http://schemas.openxmlformats.org/officeDocument/2006/relationships/image" Target="../media/image23.png"/><Relationship Id="rId8" Type="http://schemas.openxmlformats.org/officeDocument/2006/relationships/image" Target="../media/image37.png"/><Relationship Id="rId10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4.png"/><Relationship Id="rId4" Type="http://schemas.openxmlformats.org/officeDocument/2006/relationships/image" Target="../media/image23.png"/><Relationship Id="rId5" Type="http://schemas.openxmlformats.org/officeDocument/2006/relationships/image" Target="../media/image37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33337" y="-66675"/>
            <a:ext cx="9177300" cy="3281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247650" y="3552825"/>
            <a:ext cx="17040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136" y="3712726"/>
            <a:ext cx="406837" cy="487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545" y="4038601"/>
            <a:ext cx="182166" cy="850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427" y="4038601"/>
            <a:ext cx="178118" cy="850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545" y="3909061"/>
            <a:ext cx="121444" cy="52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9101" y="3909061"/>
            <a:ext cx="121444" cy="52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" name="Google Shape;23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0545" y="3795713"/>
            <a:ext cx="101203" cy="44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" name="Google Shape;24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9342" y="3795713"/>
            <a:ext cx="101203" cy="44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" name="Google Shape;25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7653" y="3593306"/>
            <a:ext cx="48577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/>
          <p:nvPr/>
        </p:nvSpPr>
        <p:spPr>
          <a:xfrm>
            <a:off x="652467" y="3552825"/>
            <a:ext cx="121500" cy="121500"/>
          </a:xfrm>
          <a:prstGeom prst="ellipse">
            <a:avLst/>
          </a:prstGeom>
          <a:solidFill>
            <a:srgbClr val="F2EB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29936" y="3851843"/>
            <a:ext cx="221783" cy="218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" name="Google Shape;28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66055" y="3855683"/>
            <a:ext cx="153136" cy="211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364009" y="3851843"/>
            <a:ext cx="184819" cy="218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" name="Google Shape;30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31490" y="3855683"/>
            <a:ext cx="234744" cy="211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" name="Google Shape;31;p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3046" y="3855683"/>
            <a:ext cx="170898" cy="211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" name="Google Shape;32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88473" y="3855683"/>
            <a:ext cx="153136" cy="211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859781" y="4142655"/>
            <a:ext cx="91939" cy="98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1"/>
          <p:cNvPicPr preferRelativeResize="0"/>
          <p:nvPr/>
        </p:nvPicPr>
        <p:blipFill rotWithShape="1">
          <a:blip r:embed="rId17">
            <a:alphaModFix/>
          </a:blip>
          <a:srcRect b="0" l="0" r="1" t="0"/>
          <a:stretch/>
        </p:blipFill>
        <p:spPr>
          <a:xfrm>
            <a:off x="1645521" y="4142655"/>
            <a:ext cx="74388" cy="98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452681" y="4142655"/>
            <a:ext cx="57243" cy="98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224137" y="4142655"/>
            <a:ext cx="92344" cy="98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17020" y="4142655"/>
            <a:ext cx="70743" cy="98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88473" y="4142655"/>
            <a:ext cx="91939" cy="98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629275" y="376238"/>
            <a:ext cx="226695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629275" y="3195638"/>
            <a:ext cx="226695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710238" y="504825"/>
            <a:ext cx="2105025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1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095750" y="1476375"/>
            <a:ext cx="1447800" cy="1738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1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095750" y="3214688"/>
            <a:ext cx="144780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1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138613" y="1566863"/>
            <a:ext cx="1357313" cy="322421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/>
          <p:nvPr/>
        </p:nvSpPr>
        <p:spPr>
          <a:xfrm>
            <a:off x="476250" y="571500"/>
            <a:ext cx="49530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20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Built from a story of loss.</a:t>
            </a:r>
            <a:endParaRPr b="1" sz="2720">
              <a:solidFill>
                <a:srgbClr val="FFFFFF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2720">
                <a:solidFill>
                  <a:srgbClr val="A0A0A0"/>
                </a:solidFill>
                <a:latin typeface="Roboto Serif"/>
                <a:ea typeface="Roboto Serif"/>
                <a:cs typeface="Roboto Serif"/>
                <a:sym typeface="Roboto Serif"/>
              </a:rPr>
              <a:t>Designed for independence.</a:t>
            </a:r>
            <a:endParaRPr b="0" sz="2720">
              <a:solidFill>
                <a:srgbClr val="A0A0A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7981950" y="4452938"/>
            <a:ext cx="8955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8296275" y="4452938"/>
            <a:ext cx="266700" cy="209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1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8429625" y="4514826"/>
            <a:ext cx="70142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7981950" y="4710113"/>
            <a:ext cx="895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 rot="10800000">
            <a:off x="7981950" y="4710263"/>
            <a:ext cx="266700" cy="209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1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/>
          <p:nvPr/>
        </p:nvSpPr>
        <p:spPr>
          <a:xfrm>
            <a:off x="8296275" y="4710113"/>
            <a:ext cx="266700" cy="209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429625" y="4772049"/>
            <a:ext cx="70142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"/>
          <p:cNvSpPr/>
          <p:nvPr/>
        </p:nvSpPr>
        <p:spPr>
          <a:xfrm>
            <a:off x="8610600" y="4710113"/>
            <a:ext cx="266700" cy="20970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1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376238" y="1078706"/>
            <a:ext cx="3424200" cy="29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376238" y="1078706"/>
            <a:ext cx="34242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376238" y="1078706"/>
            <a:ext cx="34242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One night. One call. One wake-up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76250" y="2126451"/>
            <a:ext cx="33051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One day, </a:t>
            </a:r>
            <a:r>
              <a:rPr lang="en-US" sz="11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Rahul’s </a:t>
            </a: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father went missing.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Hours later, the police found him wandering alone, unable to remember how he got there. He was 74. The market was full of health apps. None built for them.</a:t>
            </a:r>
            <a:b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One year later</a:t>
            </a:r>
            <a:r>
              <a:rPr lang="en-US" sz="11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He lost his father.</a:t>
            </a:r>
            <a:b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4825" y="0"/>
            <a:ext cx="48291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/>
          <p:nvPr/>
        </p:nvSpPr>
        <p:spPr>
          <a:xfrm>
            <a:off x="7981950" y="4452938"/>
            <a:ext cx="8955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8296275" y="4452938"/>
            <a:ext cx="266700" cy="209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9625" y="4514826"/>
            <a:ext cx="70140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/>
          <p:nvPr/>
        </p:nvSpPr>
        <p:spPr>
          <a:xfrm>
            <a:off x="7981950" y="4710113"/>
            <a:ext cx="895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 rot="10800000">
            <a:off x="7981950" y="4710263"/>
            <a:ext cx="266700" cy="20940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8296275" y="4710113"/>
            <a:ext cx="266700" cy="209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29625" y="4772049"/>
            <a:ext cx="70140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/>
          <p:nvPr/>
        </p:nvSpPr>
        <p:spPr>
          <a:xfrm>
            <a:off x="8610600" y="4710113"/>
            <a:ext cx="266700" cy="20970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9126" t="0"/>
          <a:stretch/>
        </p:blipFill>
        <p:spPr>
          <a:xfrm>
            <a:off x="2457450" y="0"/>
            <a:ext cx="66865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376238" y="2052637"/>
            <a:ext cx="33051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`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76238" y="1500188"/>
            <a:ext cx="4643438" cy="1847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76238" y="1500188"/>
            <a:ext cx="4424363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Understand the emotion first. Data comes second.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76238" y="2772538"/>
            <a:ext cx="4643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Before interviews, I spent time with elders — simply being around them. Watching how they moved, what they worried about, and what they avoided. They were deeply independent, even when they needed help.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981950" y="4452938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8296275" y="4452938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9625" y="4514826"/>
            <a:ext cx="70140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7981950" y="4710113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 rot="10800000">
            <a:off x="798195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8296275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29625" y="4772049"/>
            <a:ext cx="70140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861060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376238" y="381000"/>
            <a:ext cx="6948488" cy="452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Human driven research methodology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2387" y="1905000"/>
            <a:ext cx="219075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604838" y="1624013"/>
            <a:ext cx="235743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604838" y="1624013"/>
            <a:ext cx="23574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alibri"/>
              <a:buAutoNum type="arabicPeriod"/>
            </a:pP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Discovery : Understand the emotion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04838" y="2119313"/>
            <a:ext cx="2357438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828675" y="2119313"/>
            <a:ext cx="21336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"/>
              <a:buFont typeface="Roboto"/>
              <a:buNone/>
            </a:pPr>
            <a:r>
              <a:rPr b="0" i="0" lang="en-US" sz="85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Spending time in their real environments — parks in the morning and evening, homes, medicine shops, and old-age homes. Not to confirm assumptions, but to understand everyday behavior.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62038" y="3443288"/>
            <a:ext cx="2271713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062038" y="3443288"/>
            <a:ext cx="22717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alibri"/>
              <a:buAutoNum type="arabicPeriod"/>
            </a:pP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Define : Emotion backed by facts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062038" y="3938588"/>
            <a:ext cx="2271713" cy="828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285875" y="3938588"/>
            <a:ext cx="2047875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"/>
              <a:buFont typeface="Roboto"/>
              <a:buNone/>
            </a:pPr>
            <a:r>
              <a:rPr b="0" i="0" lang="en-US" sz="85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Patterns from observation turned into documented needs. Every emotion had a real problem behind it. Nothing hypothetical anymore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515100" y="3319463"/>
            <a:ext cx="180498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515100" y="3319463"/>
            <a:ext cx="18049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alibri"/>
              <a:buAutoNum type="arabicPeriod"/>
            </a:pP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Finalize : Two roles, one connected system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515100" y="3814763"/>
            <a:ext cx="1804988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738938" y="3814763"/>
            <a:ext cx="15811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"/>
              <a:buFont typeface="Roboto"/>
              <a:buNone/>
            </a:pPr>
            <a:r>
              <a:rPr b="0" i="0" lang="en-US" sz="85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Elder and caregiver are emotionally connected but have separate roles. The product had to hold both with respect.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738938" y="1147763"/>
            <a:ext cx="180498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738938" y="1147763"/>
            <a:ext cx="18049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alibri"/>
              <a:buAutoNum type="arabicPeriod"/>
            </a:pP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Develop : Features driven by scenario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738938" y="1643063"/>
            <a:ext cx="1804988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962775" y="1643063"/>
            <a:ext cx="15811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1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"/>
              <a:buFont typeface="Roboto"/>
              <a:buNone/>
            </a:pPr>
            <a:r>
              <a:rPr b="0" i="0" lang="en-US" sz="85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Every feature maps back to a real moment. Not added because it looked good — because a real person needed it in a real situation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3700" y="1881187"/>
            <a:ext cx="1041799" cy="467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5463" y="1451417"/>
            <a:ext cx="1152527" cy="646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9481" y="3621881"/>
            <a:ext cx="500063" cy="4766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0763" y="2924175"/>
            <a:ext cx="555740" cy="41297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7981950" y="4452938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8296275" y="4452938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9625" y="4514826"/>
            <a:ext cx="7014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7981950" y="4710113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 rot="10800000">
            <a:off x="798195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8296275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29625" y="4772049"/>
            <a:ext cx="7014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861060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1162050" y="885825"/>
            <a:ext cx="6819900" cy="337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162050" y="885825"/>
            <a:ext cx="6819900" cy="452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Stop!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8513" y="1524000"/>
            <a:ext cx="2466975" cy="164306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1162050" y="3352800"/>
            <a:ext cx="68199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I went in to solve for dependency.  I found independence instead.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981950" y="4452938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296275" y="4452938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9625" y="4514826"/>
            <a:ext cx="7014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7981950" y="4710113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 rot="10800000">
            <a:off x="798195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/>
          <p:nvPr/>
        </p:nvSpPr>
        <p:spPr>
          <a:xfrm>
            <a:off x="8296275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29625" y="4772049"/>
            <a:ext cx="7014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861060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0" y="4052888"/>
            <a:ext cx="9144000" cy="1090613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943475" y="0"/>
            <a:ext cx="4657725" cy="4052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1381125" y="4400550"/>
            <a:ext cx="638651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"A personal story is a powerful starting point. But it can also be a dangerous filter. My father's experience shaped my instinct — but I had to keep reminding myself: his story is one story. Research is where you find the others."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334000" y="823913"/>
            <a:ext cx="3257550" cy="2405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5334000" y="823913"/>
            <a:ext cx="325755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111111"/>
                </a:solidFill>
                <a:latin typeface="Roboto Serif"/>
                <a:ea typeface="Roboto Serif"/>
                <a:cs typeface="Roboto Serif"/>
                <a:sym typeface="Roboto Serif"/>
              </a:rPr>
              <a:t>What I found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334000" y="1657350"/>
            <a:ext cx="325755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5334000" y="1657350"/>
            <a:ext cx="3257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They avoid it. Asking feels like losing themselves.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334000" y="2114550"/>
            <a:ext cx="3257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Monitoring takes their dignity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334000" y="2571750"/>
            <a:ext cx="3257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Elder is calm. Family is the anxious one.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334000" y="3028950"/>
            <a:ext cx="32575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Tech exists. Just sitting unused.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838325" y="823913"/>
            <a:ext cx="2733675" cy="2405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838325" y="823913"/>
            <a:ext cx="2733675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My assumption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514600" y="1657350"/>
            <a:ext cx="20574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2514600" y="1657350"/>
            <a:ext cx="2057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Elders ask for help often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514600" y="2114550"/>
            <a:ext cx="2057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Monitoring gives them comfort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514600" y="2571750"/>
            <a:ext cx="2057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Family anxiety = elder anxiety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514600" y="3028950"/>
            <a:ext cx="2057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Tech is the barrier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7981950" y="4452938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8296275" y="4452938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9625" y="4514826"/>
            <a:ext cx="7014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7981950" y="4710113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 rot="10800000">
            <a:off x="798195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8296275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9625" y="4772049"/>
            <a:ext cx="7014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/>
          <p:nvPr/>
        </p:nvSpPr>
        <p:spPr>
          <a:xfrm>
            <a:off x="861060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376238" y="238125"/>
            <a:ext cx="6948488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They knew what they needed. We just never showed up.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7"/>
          <p:cNvPicPr preferRelativeResize="0"/>
          <p:nvPr/>
        </p:nvPicPr>
        <p:blipFill rotWithShape="1">
          <a:blip r:embed="rId3">
            <a:alphaModFix/>
          </a:blip>
          <a:srcRect b="0" l="0" r="10427" t="0"/>
          <a:stretch/>
        </p:blipFill>
        <p:spPr>
          <a:xfrm>
            <a:off x="4848225" y="1947863"/>
            <a:ext cx="4295775" cy="319563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/>
          <p:nvPr/>
        </p:nvSpPr>
        <p:spPr>
          <a:xfrm rot="-954481">
            <a:off x="642774" y="1417890"/>
            <a:ext cx="1862138" cy="2205038"/>
          </a:xfrm>
          <a:prstGeom prst="roundRect">
            <a:avLst>
              <a:gd fmla="val 14731" name="adj"/>
            </a:avLst>
          </a:prstGeom>
          <a:solidFill>
            <a:srgbClr val="CFA0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 rot="-954481">
            <a:off x="979785" y="3118388"/>
            <a:ext cx="14382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Literacy &amp; Tech Barrier or ignorance 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 rot="-954481">
            <a:off x="691736" y="1518026"/>
            <a:ext cx="1633538" cy="1557338"/>
          </a:xfrm>
          <a:prstGeom prst="roundRect">
            <a:avLst>
              <a:gd fmla="val 880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 rot="-954481">
            <a:off x="800542" y="1798709"/>
            <a:ext cx="1414463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A woman had a smartphone. Gifted by her son. Never opened a health app. Not once.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 rot="838416">
            <a:off x="2472290" y="2535353"/>
            <a:ext cx="1862138" cy="2205038"/>
          </a:xfrm>
          <a:prstGeom prst="roundRect">
            <a:avLst>
              <a:gd fmla="val 14731" name="adj"/>
            </a:avLst>
          </a:prstGeom>
          <a:solidFill>
            <a:srgbClr val="CFA0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 rot="838416">
            <a:off x="2395855" y="4215622"/>
            <a:ext cx="16335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Self Dependency Or not to spread panic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 rot="838416">
            <a:off x="2645121" y="2636399"/>
            <a:ext cx="1633538" cy="1557338"/>
          </a:xfrm>
          <a:prstGeom prst="roundRect">
            <a:avLst>
              <a:gd fmla="val 880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 rot="838416">
            <a:off x="2752536" y="2918230"/>
            <a:ext cx="1414463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He wasn't feeling well that morning. Didn't tell anyone. Didn't want to be a burden.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 rot="-1821340">
            <a:off x="4194907" y="1056754"/>
            <a:ext cx="1862138" cy="2216914"/>
          </a:xfrm>
          <a:prstGeom prst="roundRect">
            <a:avLst>
              <a:gd fmla="val 14731" name="adj"/>
            </a:avLst>
          </a:prstGeom>
          <a:solidFill>
            <a:srgbClr val="CFA0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 rot="-1821340">
            <a:off x="4616416" y="2457609"/>
            <a:ext cx="163353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Self Dependency Or not to spread panic or may be insecurity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 rot="-1821340">
            <a:off x="4129449" y="1194400"/>
            <a:ext cx="1633538" cy="1311569"/>
          </a:xfrm>
          <a:prstGeom prst="roundRect">
            <a:avLst>
              <a:gd fmla="val 1045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 rot="-1821340">
            <a:off x="4239064" y="1450328"/>
            <a:ext cx="141446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She felt uneasy on the road. Didn't call. Didn't panic. Just waited for it to pass.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8900" y="2386013"/>
            <a:ext cx="6477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4" name="Google Shape;2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713" y="1238250"/>
            <a:ext cx="6477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838200"/>
            <a:ext cx="6477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7981950" y="4452938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8296275" y="4452938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9625" y="4514826"/>
            <a:ext cx="7014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7981950" y="4710113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 rot="10800000">
            <a:off x="798195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>
            <a:off x="8296275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9625" y="4772049"/>
            <a:ext cx="7014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/>
          <p:nvPr/>
        </p:nvSpPr>
        <p:spPr>
          <a:xfrm>
            <a:off x="861060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/>
          <p:nvPr/>
        </p:nvSpPr>
        <p:spPr>
          <a:xfrm>
            <a:off x="376238" y="238125"/>
            <a:ext cx="6948488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They knew what they needed. We just never showed up.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3" y="1947863"/>
            <a:ext cx="4795838" cy="319563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/>
          <p:nvPr/>
        </p:nvSpPr>
        <p:spPr>
          <a:xfrm rot="416432">
            <a:off x="2564621" y="1518038"/>
            <a:ext cx="1862138" cy="2438473"/>
          </a:xfrm>
          <a:prstGeom prst="roundRect">
            <a:avLst>
              <a:gd fmla="val 14731" name="adj"/>
            </a:avLst>
          </a:prstGeom>
          <a:solidFill>
            <a:srgbClr val="CFA0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 rot="416459">
            <a:off x="2572890" y="3295610"/>
            <a:ext cx="1633471" cy="600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Ignorance dominated over Insecurity for family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 rot="416432">
            <a:off x="2721771" y="1612229"/>
            <a:ext cx="1633538" cy="1557338"/>
          </a:xfrm>
          <a:prstGeom prst="roundRect">
            <a:avLst>
              <a:gd fmla="val 880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 rot="416432">
            <a:off x="2827378" y="1718631"/>
            <a:ext cx="1414463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40"/>
              <a:buFont typeface="Roboto"/>
              <a:buNone/>
            </a:pPr>
            <a:r>
              <a:rPr b="0" i="0" lang="en-US" sz="1040" u="none" cap="none" strike="noStrike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Every elder we met was calm. Every family member was quietly panicking. That gap — that was the real design problem.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 rot="-329347">
            <a:off x="467906" y="1460370"/>
            <a:ext cx="1862138" cy="2205038"/>
          </a:xfrm>
          <a:prstGeom prst="roundRect">
            <a:avLst>
              <a:gd fmla="val 14731" name="adj"/>
            </a:avLst>
          </a:prstGeom>
          <a:solidFill>
            <a:srgbClr val="CFA04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 rot="-329347">
            <a:off x="658326" y="3158550"/>
            <a:ext cx="16335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Important may miss in crowd notification 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 rot="-329347">
            <a:off x="556514" y="1555696"/>
            <a:ext cx="1633538" cy="1557338"/>
          </a:xfrm>
          <a:prstGeom prst="roundRect">
            <a:avLst>
              <a:gd fmla="val 880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 rot="-329347">
            <a:off x="668562" y="1636066"/>
            <a:ext cx="1414463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40"/>
              <a:buFont typeface="Roboto"/>
              <a:buNone/>
            </a:pPr>
            <a:r>
              <a:rPr b="0" i="0" lang="en-US" sz="1040" u="none" cap="none" strike="noStrike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The app kept sending notifications. He didn't switch it off. Calls might come through. He just stopped looking at it.</a:t>
            </a:r>
            <a:endParaRPr b="0" i="0" sz="10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8288" y="1266825"/>
            <a:ext cx="6477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0850" y="1333500"/>
            <a:ext cx="6477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/>
          <p:nvPr/>
        </p:nvSpPr>
        <p:spPr>
          <a:xfrm>
            <a:off x="7981950" y="4452938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8296275" y="4452938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9625" y="4514826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/>
          <p:nvPr/>
        </p:nvSpPr>
        <p:spPr>
          <a:xfrm>
            <a:off x="7981950" y="4710113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 rot="10800000">
            <a:off x="798195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8296275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9625" y="4772049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8"/>
          <p:cNvSpPr/>
          <p:nvPr/>
        </p:nvSpPr>
        <p:spPr>
          <a:xfrm>
            <a:off x="861060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"/>
          <p:cNvSpPr/>
          <p:nvPr/>
        </p:nvSpPr>
        <p:spPr>
          <a:xfrm>
            <a:off x="4700588" y="490538"/>
            <a:ext cx="4171950" cy="2600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100% </a:t>
            </a: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users were self-motivated about their health. Nobody was waiting to be managed. 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preferred ordering medicine themselves — offline first. Independence down to the last errand. 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22%</a:t>
            </a: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showed family anxiety in elder responses. But every caregiver we spoke to was quietly panicking. The gap between how elders lived and how family imagined it — that was the real design problem. 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 users used a health app regularly. Not because they couldn't. Because nobody designed one for them.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0588" y="3452813"/>
            <a:ext cx="3471863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9"/>
          <p:cNvSpPr/>
          <p:nvPr/>
        </p:nvSpPr>
        <p:spPr>
          <a:xfrm>
            <a:off x="352425" y="1281113"/>
            <a:ext cx="4124325" cy="2867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425" y="1004875"/>
            <a:ext cx="1414463" cy="141446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9"/>
          <p:cNvSpPr/>
          <p:nvPr/>
        </p:nvSpPr>
        <p:spPr>
          <a:xfrm>
            <a:off x="352425" y="2497950"/>
            <a:ext cx="4124400" cy="19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lang="en-US" sz="2814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20+</a:t>
            </a: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users. 30+ questions. The data confirmed what the field showed.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7981950" y="4452938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8296275" y="4452938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9625" y="4514826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9"/>
          <p:cNvSpPr/>
          <p:nvPr/>
        </p:nvSpPr>
        <p:spPr>
          <a:xfrm>
            <a:off x="7981950" y="4710113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 rot="10800000">
            <a:off x="798195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9"/>
          <p:cNvSpPr/>
          <p:nvPr/>
        </p:nvSpPr>
        <p:spPr>
          <a:xfrm>
            <a:off x="8296275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9625" y="4772049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9"/>
          <p:cNvSpPr/>
          <p:nvPr/>
        </p:nvSpPr>
        <p:spPr>
          <a:xfrm>
            <a:off x="861060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8" name="Google Shape;268;p10"/>
          <p:cNvPicPr preferRelativeResize="0"/>
          <p:nvPr/>
        </p:nvPicPr>
        <p:blipFill rotWithShape="1">
          <a:blip r:embed="rId3">
            <a:alphaModFix/>
          </a:blip>
          <a:srcRect b="701" l="0" r="0" t="0"/>
          <a:stretch/>
        </p:blipFill>
        <p:spPr>
          <a:xfrm>
            <a:off x="147638" y="3119438"/>
            <a:ext cx="3052763" cy="2024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6127" y="2967038"/>
            <a:ext cx="2687873" cy="2176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0" name="Google Shape;27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8263" y="2252663"/>
            <a:ext cx="67627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0"/>
          <p:cNvSpPr/>
          <p:nvPr/>
        </p:nvSpPr>
        <p:spPr>
          <a:xfrm>
            <a:off x="352425" y="238125"/>
            <a:ext cx="7900988" cy="135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She didn't call him to check. He didn't have to prove he was fine. Both of them got their morning back.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862013" y="1833563"/>
            <a:ext cx="12620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Time to take your medicine. 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8115300" y="2919413"/>
            <a:ext cx="990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Three words. "All is well.”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4" name="Google Shape;27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791" y="2250282"/>
            <a:ext cx="442531" cy="493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53412" y="3390900"/>
            <a:ext cx="533800" cy="747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6" name="Google Shape;276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38700" y="1652588"/>
            <a:ext cx="2152650" cy="3490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14900" y="1728788"/>
            <a:ext cx="2005013" cy="3414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8" name="Google Shape;278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57438" y="1766888"/>
            <a:ext cx="2152650" cy="33766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9" name="Google Shape;279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5775" y="1876425"/>
            <a:ext cx="3143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0" name="Google Shape;280;p10"/>
          <p:cNvPicPr preferRelativeResize="0"/>
          <p:nvPr/>
        </p:nvPicPr>
        <p:blipFill rotWithShape="1">
          <a:blip r:embed="rId12">
            <a:alphaModFix/>
          </a:blip>
          <a:srcRect b="3478" l="0" r="0" t="0"/>
          <a:stretch/>
        </p:blipFill>
        <p:spPr>
          <a:xfrm>
            <a:off x="2419350" y="2500313"/>
            <a:ext cx="2028825" cy="2643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1" name="Google Shape;281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419350" y="1833563"/>
            <a:ext cx="2028825" cy="65246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0"/>
          <p:cNvSpPr/>
          <p:nvPr/>
        </p:nvSpPr>
        <p:spPr>
          <a:xfrm>
            <a:off x="7981950" y="4452938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8296275" y="4452938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4" name="Google Shape;284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29625" y="4514826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0"/>
          <p:cNvSpPr/>
          <p:nvPr/>
        </p:nvSpPr>
        <p:spPr>
          <a:xfrm>
            <a:off x="7981950" y="4710113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 rot="10800000">
            <a:off x="798195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/>
          <p:nvPr/>
        </p:nvSpPr>
        <p:spPr>
          <a:xfrm>
            <a:off x="8296275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429625" y="4772049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0"/>
          <p:cNvSpPr/>
          <p:nvPr/>
        </p:nvSpPr>
        <p:spPr>
          <a:xfrm>
            <a:off x="861060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1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/>
          <p:nvPr/>
        </p:nvSpPr>
        <p:spPr>
          <a:xfrm>
            <a:off x="352425" y="238125"/>
            <a:ext cx="7900988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He wasn't feeling well. He didn't want to worry anyone. Unless it is critical.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7200900" y="2038350"/>
            <a:ext cx="162401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1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Call from morning! Seems like something is wrong! Better to check on call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9" name="Google Shape;2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8700" y="1652588"/>
            <a:ext cx="2152650" cy="3490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0" name="Google Shape;30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5688" y="2957513"/>
            <a:ext cx="533800" cy="747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1" name="Google Shape;30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4900" y="1728788"/>
            <a:ext cx="2005013" cy="3414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2" name="Google Shape;302;p11"/>
          <p:cNvPicPr preferRelativeResize="0"/>
          <p:nvPr/>
        </p:nvPicPr>
        <p:blipFill rotWithShape="1">
          <a:blip r:embed="rId6">
            <a:alphaModFix/>
          </a:blip>
          <a:srcRect b="0" l="0" r="1142" t="0"/>
          <a:stretch/>
        </p:blipFill>
        <p:spPr>
          <a:xfrm>
            <a:off x="7081838" y="3290888"/>
            <a:ext cx="2062163" cy="1852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3" name="Google Shape;303;p11"/>
          <p:cNvPicPr preferRelativeResize="0"/>
          <p:nvPr/>
        </p:nvPicPr>
        <p:blipFill rotWithShape="1">
          <a:blip r:embed="rId7">
            <a:alphaModFix/>
          </a:blip>
          <a:srcRect b="0" l="0" r="3709" t="0"/>
          <a:stretch/>
        </p:blipFill>
        <p:spPr>
          <a:xfrm>
            <a:off x="-114300" y="3090863"/>
            <a:ext cx="2967038" cy="2052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4" name="Google Shape;304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57438" y="1766888"/>
            <a:ext cx="2152650" cy="33766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5" name="Google Shape;305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19350" y="1833563"/>
            <a:ext cx="2028825" cy="3309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6" name="Google Shape;306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2305050"/>
            <a:ext cx="223838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7" name="Google Shape;307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8225" y="2433638"/>
            <a:ext cx="128588" cy="109538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800100" y="2166938"/>
            <a:ext cx="623888" cy="623888"/>
          </a:xfrm>
          <a:prstGeom prst="ellipse">
            <a:avLst/>
          </a:prstGeom>
          <a:noFill/>
          <a:ln cap="flat" cmpd="sng" w="135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1209675" y="2128838"/>
            <a:ext cx="214313" cy="21431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38250" y="2157413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28750" y="2957513"/>
            <a:ext cx="511708" cy="70720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1"/>
          <p:cNvSpPr/>
          <p:nvPr/>
        </p:nvSpPr>
        <p:spPr>
          <a:xfrm>
            <a:off x="7981950" y="4452938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8296275" y="4452938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29625" y="4514826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1"/>
          <p:cNvSpPr/>
          <p:nvPr/>
        </p:nvSpPr>
        <p:spPr>
          <a:xfrm>
            <a:off x="7981950" y="4710113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 rot="10800000">
            <a:off x="798195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7" name="Google Shape;317;p1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1"/>
          <p:cNvSpPr/>
          <p:nvPr/>
        </p:nvSpPr>
        <p:spPr>
          <a:xfrm>
            <a:off x="8296275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429625" y="4772049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1"/>
          <p:cNvSpPr/>
          <p:nvPr/>
        </p:nvSpPr>
        <p:spPr>
          <a:xfrm>
            <a:off x="861060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/>
          <p:nvPr/>
        </p:nvSpPr>
        <p:spPr>
          <a:xfrm>
            <a:off x="352425" y="238125"/>
            <a:ext cx="7900988" cy="1357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He ran out of medicine. A refill reminder was already sent. Refill requests stayed passive until action became possible.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12"/>
          <p:cNvPicPr preferRelativeResize="0"/>
          <p:nvPr/>
        </p:nvPicPr>
        <p:blipFill rotWithShape="1">
          <a:blip r:embed="rId3">
            <a:alphaModFix/>
          </a:blip>
          <a:srcRect b="3922" l="0" r="0" t="0"/>
          <a:stretch/>
        </p:blipFill>
        <p:spPr>
          <a:xfrm>
            <a:off x="3252788" y="1876425"/>
            <a:ext cx="2152650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9" name="Google Shape;329;p12"/>
          <p:cNvPicPr preferRelativeResize="0"/>
          <p:nvPr/>
        </p:nvPicPr>
        <p:blipFill rotWithShape="1">
          <a:blip r:embed="rId4">
            <a:alphaModFix/>
          </a:blip>
          <a:srcRect b="5072" l="0" r="0" t="0"/>
          <a:stretch/>
        </p:blipFill>
        <p:spPr>
          <a:xfrm>
            <a:off x="3305175" y="2647950"/>
            <a:ext cx="204787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0" name="Google Shape;33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6125" y="1981200"/>
            <a:ext cx="20859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1" name="Google Shape;331;p12"/>
          <p:cNvPicPr preferRelativeResize="0"/>
          <p:nvPr/>
        </p:nvPicPr>
        <p:blipFill rotWithShape="1">
          <a:blip r:embed="rId6">
            <a:alphaModFix/>
          </a:blip>
          <a:srcRect b="58745" l="0" r="-2041" t="0"/>
          <a:stretch/>
        </p:blipFill>
        <p:spPr>
          <a:xfrm>
            <a:off x="5495925" y="2847975"/>
            <a:ext cx="837168" cy="347373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2"/>
          <p:cNvSpPr/>
          <p:nvPr/>
        </p:nvSpPr>
        <p:spPr>
          <a:xfrm>
            <a:off x="352425" y="2419350"/>
            <a:ext cx="2733675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2425" y="2662238"/>
            <a:ext cx="31432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2"/>
          <p:cNvSpPr/>
          <p:nvPr/>
        </p:nvSpPr>
        <p:spPr>
          <a:xfrm>
            <a:off x="823913" y="2419350"/>
            <a:ext cx="226218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Roboto"/>
              <a:buNone/>
            </a:pPr>
            <a:r>
              <a:rPr b="0" i="0" lang="en-US" sz="11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alert is triggered through automated call, SMS, or vibration once she is within a 500m range of a medical store.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5" name="Google Shape;335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10288" y="3119438"/>
            <a:ext cx="3033713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2"/>
          <p:cNvSpPr/>
          <p:nvPr/>
        </p:nvSpPr>
        <p:spPr>
          <a:xfrm>
            <a:off x="7981950" y="4452938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8296275" y="4452938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8" name="Google Shape;338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9625" y="4514826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2"/>
          <p:cNvSpPr/>
          <p:nvPr/>
        </p:nvSpPr>
        <p:spPr>
          <a:xfrm>
            <a:off x="7981950" y="4710113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 rot="10800000">
            <a:off x="798195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2"/>
          <p:cNvSpPr/>
          <p:nvPr/>
        </p:nvSpPr>
        <p:spPr>
          <a:xfrm>
            <a:off x="8296275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29625" y="4772049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2"/>
          <p:cNvSpPr/>
          <p:nvPr/>
        </p:nvSpPr>
        <p:spPr>
          <a:xfrm>
            <a:off x="861060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5" name="Google Shape;345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/>
          <p:nvPr/>
        </p:nvSpPr>
        <p:spPr>
          <a:xfrm>
            <a:off x="352425" y="238125"/>
            <a:ext cx="7900988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He lost his way but his family never lost him. A silent help, building confidence. 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2" name="Google Shape;3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86038"/>
            <a:ext cx="3624263" cy="2557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3" name="Google Shape;35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6988" y="2085975"/>
            <a:ext cx="2085975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4" name="Google Shape;354;p13"/>
          <p:cNvPicPr preferRelativeResize="0"/>
          <p:nvPr/>
        </p:nvPicPr>
        <p:blipFill rotWithShape="1">
          <a:blip r:embed="rId5">
            <a:alphaModFix/>
          </a:blip>
          <a:srcRect b="12747" l="0" r="0" t="0"/>
          <a:stretch/>
        </p:blipFill>
        <p:spPr>
          <a:xfrm>
            <a:off x="2533650" y="1362075"/>
            <a:ext cx="215265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5" name="Google Shape;35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66988" y="1466850"/>
            <a:ext cx="20859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6" name="Google Shape;356;p13"/>
          <p:cNvPicPr preferRelativeResize="0"/>
          <p:nvPr/>
        </p:nvPicPr>
        <p:blipFill rotWithShape="1">
          <a:blip r:embed="rId7">
            <a:alphaModFix/>
          </a:blip>
          <a:srcRect b="3112" l="0" r="0" t="0"/>
          <a:stretch/>
        </p:blipFill>
        <p:spPr>
          <a:xfrm>
            <a:off x="4933950" y="1881187"/>
            <a:ext cx="2085975" cy="3262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7" name="Google Shape;357;p13"/>
          <p:cNvPicPr preferRelativeResize="0"/>
          <p:nvPr/>
        </p:nvPicPr>
        <p:blipFill rotWithShape="1">
          <a:blip r:embed="rId5">
            <a:alphaModFix/>
          </a:blip>
          <a:srcRect b="12747" l="0" r="0" t="0"/>
          <a:stretch/>
        </p:blipFill>
        <p:spPr>
          <a:xfrm>
            <a:off x="4900613" y="1362075"/>
            <a:ext cx="215265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8" name="Google Shape;35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3950" y="1466850"/>
            <a:ext cx="20859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9" name="Google Shape;359;p13"/>
          <p:cNvPicPr preferRelativeResize="0"/>
          <p:nvPr/>
        </p:nvPicPr>
        <p:blipFill rotWithShape="1">
          <a:blip r:embed="rId8">
            <a:alphaModFix/>
          </a:blip>
          <a:srcRect b="0" l="0" r="1333" t="0"/>
          <a:stretch/>
        </p:blipFill>
        <p:spPr>
          <a:xfrm>
            <a:off x="6677025" y="2571750"/>
            <a:ext cx="2466975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3"/>
          <p:cNvSpPr/>
          <p:nvPr/>
        </p:nvSpPr>
        <p:spPr>
          <a:xfrm>
            <a:off x="7981950" y="4452938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8296275" y="4452938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2" name="Google Shape;36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9625" y="4514826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/>
          <p:nvPr/>
        </p:nvSpPr>
        <p:spPr>
          <a:xfrm>
            <a:off x="7981950" y="4710113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 rot="10800000">
            <a:off x="798195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3"/>
          <p:cNvSpPr/>
          <p:nvPr/>
        </p:nvSpPr>
        <p:spPr>
          <a:xfrm>
            <a:off x="8296275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29625" y="4772049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3"/>
          <p:cNvSpPr/>
          <p:nvPr/>
        </p:nvSpPr>
        <p:spPr>
          <a:xfrm>
            <a:off x="861060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5" name="Google Shape;375;p14"/>
          <p:cNvPicPr preferRelativeResize="0"/>
          <p:nvPr/>
        </p:nvPicPr>
        <p:blipFill rotWithShape="1">
          <a:blip r:embed="rId3">
            <a:alphaModFix/>
          </a:blip>
          <a:srcRect b="8352" l="0" r="0" t="0"/>
          <a:stretch/>
        </p:blipFill>
        <p:spPr>
          <a:xfrm>
            <a:off x="5653088" y="1171575"/>
            <a:ext cx="215265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6" name="Google Shape;37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6425" y="1276350"/>
            <a:ext cx="20859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4"/>
          <p:cNvSpPr/>
          <p:nvPr/>
        </p:nvSpPr>
        <p:spPr>
          <a:xfrm>
            <a:off x="5795963" y="2052637"/>
            <a:ext cx="1866900" cy="29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5795963" y="2052637"/>
            <a:ext cx="1866900" cy="319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5795963" y="2052637"/>
            <a:ext cx="1866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6"/>
              <a:buFont typeface="Roboto"/>
              <a:buNone/>
            </a:pPr>
            <a:r>
              <a:rPr b="1" i="0" lang="en-US" sz="92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Privacy</a:t>
            </a:r>
            <a:endParaRPr b="0" i="0" sz="9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5795963" y="2262188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Roboto"/>
              <a:buNone/>
            </a:pPr>
            <a:r>
              <a:rPr b="1" i="0" lang="en-US" sz="6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 medicine intake notification with cre giver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5795963" y="2466975"/>
            <a:ext cx="18669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5795963" y="2466975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"/>
          <p:cNvSpPr/>
          <p:nvPr/>
        </p:nvSpPr>
        <p:spPr>
          <a:xfrm>
            <a:off x="5795963" y="2466975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5795963" y="2466975"/>
            <a:ext cx="290513" cy="1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Roboto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By SMS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7496175" y="2483644"/>
            <a:ext cx="166688" cy="76200"/>
          </a:xfrm>
          <a:prstGeom prst="roundRect">
            <a:avLst>
              <a:gd fmla="val 16667" name="adj"/>
            </a:avLst>
          </a:prstGeom>
          <a:solidFill>
            <a:srgbClr val="B4C9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7510462" y="2493169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5795963" y="2652713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5795963" y="2652713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5795963" y="2652713"/>
            <a:ext cx="581025" cy="1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Roboto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Automated Call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7496175" y="2669381"/>
            <a:ext cx="166688" cy="76200"/>
          </a:xfrm>
          <a:prstGeom prst="roundRect">
            <a:avLst>
              <a:gd fmla="val 16667" name="adj"/>
            </a:avLst>
          </a:prstGeom>
          <a:solidFill>
            <a:srgbClr val="68E8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4"/>
          <p:cNvSpPr/>
          <p:nvPr/>
        </p:nvSpPr>
        <p:spPr>
          <a:xfrm>
            <a:off x="7591425" y="2678906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5795963" y="2838450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5795963" y="2838450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5795963" y="2838450"/>
            <a:ext cx="1171575" cy="1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Roboto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Allow Alexa for Voice Reminder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7496175" y="2855119"/>
            <a:ext cx="166688" cy="76200"/>
          </a:xfrm>
          <a:prstGeom prst="roundRect">
            <a:avLst>
              <a:gd fmla="val 16667" name="adj"/>
            </a:avLst>
          </a:prstGeom>
          <a:solidFill>
            <a:srgbClr val="68E8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7591425" y="2864644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5795963" y="3024188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5795963" y="3024188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4"/>
          <p:cNvSpPr/>
          <p:nvPr/>
        </p:nvSpPr>
        <p:spPr>
          <a:xfrm>
            <a:off x="5795963" y="3024188"/>
            <a:ext cx="10287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Roboto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Text notification In-app only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7496175" y="3040856"/>
            <a:ext cx="166688" cy="76200"/>
          </a:xfrm>
          <a:prstGeom prst="roundRect">
            <a:avLst>
              <a:gd fmla="val 16667" name="adj"/>
            </a:avLst>
          </a:prstGeom>
          <a:solidFill>
            <a:srgbClr val="B4C9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7510462" y="3050381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5795963" y="3228975"/>
            <a:ext cx="1866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6"/>
              <a:buFont typeface="Roboto"/>
              <a:buNone/>
            </a:pPr>
            <a:r>
              <a:rPr b="1" i="0" lang="en-US" sz="92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Security</a:t>
            </a:r>
            <a:endParaRPr b="0" i="0" sz="9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5795963" y="3486150"/>
            <a:ext cx="1866900" cy="852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5795963" y="3486150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5795963" y="3486150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5795963" y="3486150"/>
            <a:ext cx="514350" cy="1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Roboto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Fall Detection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7496175" y="3502819"/>
            <a:ext cx="166688" cy="76200"/>
          </a:xfrm>
          <a:prstGeom prst="roundRect">
            <a:avLst>
              <a:gd fmla="val 16667" name="adj"/>
            </a:avLst>
          </a:prstGeom>
          <a:solidFill>
            <a:srgbClr val="68E8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7591425" y="3512344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5795963" y="3671888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5795963" y="3671888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4"/>
          <p:cNvSpPr/>
          <p:nvPr/>
        </p:nvSpPr>
        <p:spPr>
          <a:xfrm>
            <a:off x="5795963" y="3671888"/>
            <a:ext cx="823913" cy="1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Roboto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Low activity Detection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7496175" y="3688556"/>
            <a:ext cx="166688" cy="76200"/>
          </a:xfrm>
          <a:prstGeom prst="roundRect">
            <a:avLst>
              <a:gd fmla="val 16667" name="adj"/>
            </a:avLst>
          </a:prstGeom>
          <a:solidFill>
            <a:srgbClr val="68E8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7591425" y="3698081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5795963" y="3857625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5795963" y="3857625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5795963" y="3857625"/>
            <a:ext cx="1595438" cy="1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Roboto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Alert family if out after 8:30 PM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7496175" y="3874294"/>
            <a:ext cx="166688" cy="76200"/>
          </a:xfrm>
          <a:prstGeom prst="roundRect">
            <a:avLst>
              <a:gd fmla="val 16667" name="adj"/>
            </a:avLst>
          </a:prstGeom>
          <a:solidFill>
            <a:srgbClr val="68E8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7591425" y="3883819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5795963" y="4043363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5795963" y="4043363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4"/>
          <p:cNvSpPr/>
          <p:nvPr/>
        </p:nvSpPr>
        <p:spPr>
          <a:xfrm>
            <a:off x="5795963" y="4043363"/>
            <a:ext cx="976312" cy="1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Roboto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Listen for distress at night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7496175" y="4060031"/>
            <a:ext cx="166688" cy="76200"/>
          </a:xfrm>
          <a:prstGeom prst="roundRect">
            <a:avLst>
              <a:gd fmla="val 16667" name="adj"/>
            </a:avLst>
          </a:prstGeom>
          <a:solidFill>
            <a:srgbClr val="68E8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7591425" y="4069556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5795963" y="4229100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4"/>
          <p:cNvSpPr/>
          <p:nvPr/>
        </p:nvSpPr>
        <p:spPr>
          <a:xfrm>
            <a:off x="5795963" y="4229100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5795963" y="4229100"/>
            <a:ext cx="971550" cy="1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Roboto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Smartwatch data analysis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7496175" y="4245769"/>
            <a:ext cx="166688" cy="76200"/>
          </a:xfrm>
          <a:prstGeom prst="roundRect">
            <a:avLst>
              <a:gd fmla="val 16667" name="adj"/>
            </a:avLst>
          </a:prstGeom>
          <a:solidFill>
            <a:srgbClr val="68E8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7591425" y="4255294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5795963" y="4433888"/>
            <a:ext cx="1866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6"/>
              <a:buFont typeface="Roboto"/>
              <a:buNone/>
            </a:pPr>
            <a:r>
              <a:rPr b="1" i="0" lang="en-US" sz="926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Good to have</a:t>
            </a:r>
            <a:endParaRPr b="0" i="0" sz="9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5795963" y="4691063"/>
            <a:ext cx="18669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5795963" y="4691063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5795963" y="4691063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5795963" y="4691063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5795963" y="4691063"/>
            <a:ext cx="1276350" cy="1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Roboto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Geo-alert when near medical store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7496175" y="4707731"/>
            <a:ext cx="166688" cy="76200"/>
          </a:xfrm>
          <a:prstGeom prst="roundRect">
            <a:avLst>
              <a:gd fmla="val 16667" name="adj"/>
            </a:avLst>
          </a:prstGeom>
          <a:solidFill>
            <a:srgbClr val="68E8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7591425" y="4717256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5795963" y="4876800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5795963" y="4876800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5795963" y="4876800"/>
            <a:ext cx="1866900" cy="109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5795963" y="4876800"/>
            <a:ext cx="1038225" cy="1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1"/>
              <a:buFont typeface="Roboto"/>
              <a:buNone/>
            </a:pPr>
            <a:r>
              <a:rPr b="0" i="0" lang="en-US" sz="641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Insurance renewal reminder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7496175" y="4893469"/>
            <a:ext cx="166688" cy="76200"/>
          </a:xfrm>
          <a:prstGeom prst="roundRect">
            <a:avLst>
              <a:gd fmla="val 16667" name="adj"/>
            </a:avLst>
          </a:prstGeom>
          <a:solidFill>
            <a:srgbClr val="68E8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7591425" y="4902994"/>
            <a:ext cx="57150" cy="571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3" name="Google Shape;443;p14"/>
          <p:cNvPicPr preferRelativeResize="0"/>
          <p:nvPr/>
        </p:nvPicPr>
        <p:blipFill rotWithShape="1">
          <a:blip r:embed="rId5">
            <a:alphaModFix/>
          </a:blip>
          <a:srcRect b="1840" l="0" r="0" t="0"/>
          <a:stretch/>
        </p:blipFill>
        <p:spPr>
          <a:xfrm>
            <a:off x="628650" y="2495550"/>
            <a:ext cx="2622659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4" name="Google Shape;44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92248" y="2740331"/>
            <a:ext cx="1703477" cy="135878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4"/>
          <p:cNvSpPr/>
          <p:nvPr/>
        </p:nvSpPr>
        <p:spPr>
          <a:xfrm>
            <a:off x="709613" y="1090613"/>
            <a:ext cx="4695825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4"/>
              <a:buFont typeface="Roboto Serif"/>
              <a:buNone/>
            </a:pPr>
            <a:r>
              <a:rPr b="0" i="0" lang="en-US" sz="2814" u="none" cap="none" strike="noStrike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Silent protection. Designed around privacy.</a:t>
            </a:r>
            <a:endParaRPr b="0" i="0" sz="2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7981950" y="4452938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8296275" y="4452938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8" name="Google Shape;44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9625" y="4514826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4"/>
          <p:cNvSpPr/>
          <p:nvPr/>
        </p:nvSpPr>
        <p:spPr>
          <a:xfrm>
            <a:off x="7981950" y="4710113"/>
            <a:ext cx="895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 rot="10800000">
            <a:off x="798195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1" name="Google Shape;45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4"/>
          <p:cNvSpPr/>
          <p:nvPr/>
        </p:nvSpPr>
        <p:spPr>
          <a:xfrm>
            <a:off x="8296275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3" name="Google Shape;45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9625" y="4772049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4"/>
          <p:cNvSpPr/>
          <p:nvPr/>
        </p:nvSpPr>
        <p:spPr>
          <a:xfrm>
            <a:off x="8610600" y="4710113"/>
            <a:ext cx="266700" cy="20955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5" name="Google Shape;45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461;p15"/>
          <p:cNvGrpSpPr/>
          <p:nvPr/>
        </p:nvGrpSpPr>
        <p:grpSpPr>
          <a:xfrm>
            <a:off x="709613" y="1333500"/>
            <a:ext cx="5100600" cy="2476500"/>
            <a:chOff x="0" y="0"/>
            <a:chExt cx="5100600" cy="2476500"/>
          </a:xfrm>
        </p:grpSpPr>
        <p:sp>
          <p:nvSpPr>
            <p:cNvPr id="462" name="Google Shape;462;p15"/>
            <p:cNvSpPr/>
            <p:nvPr/>
          </p:nvSpPr>
          <p:spPr>
            <a:xfrm>
              <a:off x="0" y="0"/>
              <a:ext cx="51006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5"/>
            <p:cNvSpPr txBox="1"/>
            <p:nvPr/>
          </p:nvSpPr>
          <p:spPr>
            <a:xfrm>
              <a:off x="0" y="0"/>
              <a:ext cx="51006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40">
                  <a:solidFill>
                    <a:srgbClr val="0CB24C"/>
                  </a:solidFill>
                  <a:latin typeface="Roboto"/>
                  <a:ea typeface="Roboto"/>
                  <a:cs typeface="Roboto"/>
                  <a:sym typeface="Roboto"/>
                </a:rPr>
                <a:t>Next Mission</a:t>
              </a:r>
              <a:endParaRPr b="1" sz="1140">
                <a:solidFill>
                  <a:srgbClr val="0CB24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2814">
                  <a:solidFill>
                    <a:srgbClr val="FFFFFF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Tracto for every elder.</a:t>
              </a:r>
              <a:br>
                <a:rPr b="0" lang="en-US" sz="2814">
                  <a:solidFill>
                    <a:srgbClr val="FFFFFF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</a:br>
              <a:r>
                <a:rPr b="0" lang="en-US" sz="2814">
                  <a:solidFill>
                    <a:srgbClr val="FFFFFF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Even without a smartphone.</a:t>
              </a:r>
              <a:endParaRPr b="0" sz="2814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pic>
        <p:nvPicPr>
          <p:cNvPr descr="preencoded.png" id="464" name="Google Shape;4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9313" y="995363"/>
            <a:ext cx="2547938" cy="3148013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5"/>
          <p:cNvSpPr/>
          <p:nvPr/>
        </p:nvSpPr>
        <p:spPr>
          <a:xfrm>
            <a:off x="7981950" y="4452938"/>
            <a:ext cx="8955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8296275" y="4452938"/>
            <a:ext cx="266700" cy="209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7" name="Google Shape;46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9625" y="4514826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5"/>
          <p:cNvSpPr/>
          <p:nvPr/>
        </p:nvSpPr>
        <p:spPr>
          <a:xfrm>
            <a:off x="7981950" y="4710113"/>
            <a:ext cx="895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 rot="10800000">
            <a:off x="7981950" y="4710263"/>
            <a:ext cx="266700" cy="20940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0" name="Google Shape;47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3387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5"/>
          <p:cNvSpPr/>
          <p:nvPr/>
        </p:nvSpPr>
        <p:spPr>
          <a:xfrm>
            <a:off x="8296275" y="4710113"/>
            <a:ext cx="266700" cy="209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6E6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2" name="Google Shape;47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29625" y="4772049"/>
            <a:ext cx="70135" cy="90488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5"/>
          <p:cNvSpPr/>
          <p:nvPr/>
        </p:nvSpPr>
        <p:spPr>
          <a:xfrm>
            <a:off x="8610600" y="4710113"/>
            <a:ext cx="266700" cy="209700"/>
          </a:xfrm>
          <a:prstGeom prst="roundRect">
            <a:avLst>
              <a:gd fmla="val 16667" name="adj"/>
            </a:avLst>
          </a:prstGeom>
          <a:solidFill>
            <a:srgbClr val="0CB24C"/>
          </a:solidFill>
          <a:ln cap="flat" cmpd="sng" w="9525">
            <a:solidFill>
              <a:srgbClr val="0B5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4" name="Google Shape;47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2038" y="4814888"/>
            <a:ext cx="128588" cy="7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6"/>
          <p:cNvSpPr/>
          <p:nvPr/>
        </p:nvSpPr>
        <p:spPr>
          <a:xfrm>
            <a:off x="1714500" y="2619375"/>
            <a:ext cx="571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14">
                <a:solidFill>
                  <a:srgbClr val="FFFFFF"/>
                </a:solidFill>
                <a:latin typeface="Roboto Serif"/>
                <a:ea typeface="Roboto Serif"/>
                <a:cs typeface="Roboto Serif"/>
                <a:sym typeface="Roboto Serif"/>
              </a:rPr>
              <a:t>Thanks for your time</a:t>
            </a:r>
            <a:endParaRPr b="0" sz="2814">
              <a:solidFill>
                <a:srgbClr val="FFFF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1714500" y="3238500"/>
            <a:ext cx="5715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Designed with love. Open to every conversation.</a:t>
            </a:r>
            <a:endParaRPr b="0" sz="1425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482" name="Google Shape;4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3837" y="1066800"/>
            <a:ext cx="1076325" cy="1271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2026-05-30T23:49:41Z</dcterms:created>
  <dc:creator>PptxGenJS</dc:creator>
</cp:coreProperties>
</file>